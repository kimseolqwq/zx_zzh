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f345bab74549bc" /><Relationship Type="http://schemas.openxmlformats.org/officeDocument/2006/relationships/extended-properties" Target="/docProps/app.xml" Id="R51e8c889a3494eef" /><Relationship Type="http://schemas.openxmlformats.org/officeDocument/2006/relationships/officeDocument" Target="/ppt/presentation.xml" Id="Rdeab1fac3b09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454766e5c4f07"/>
  </p:sldMasterIdLst>
  <p:notesMasterIdLst>
    <p:notesMasterId xmlns:r="http://schemas.openxmlformats.org/officeDocument/2006/relationships" r:id="R9e9ca0fc02bf4d06"/>
  </p:notesMasterIdLst>
  <p:sldIdLst>
    <p:sldId xmlns:r="http://schemas.openxmlformats.org/officeDocument/2006/relationships" id="256" r:id="Rcff20b8d62764582"/>
    <p:sldId xmlns:r="http://schemas.openxmlformats.org/officeDocument/2006/relationships" id="257" r:id="R256fa7f162ab4114"/>
    <p:sldId xmlns:r="http://schemas.openxmlformats.org/officeDocument/2006/relationships" id="258" r:id="Rec74e1746b334183"/>
    <p:sldId xmlns:r="http://schemas.openxmlformats.org/officeDocument/2006/relationships" id="259" r:id="R47c44ee6c3184e6b"/>
    <p:sldId xmlns:r="http://schemas.openxmlformats.org/officeDocument/2006/relationships" id="260" r:id="R26e1374d7f9943c3"/>
    <p:sldId xmlns:r="http://schemas.openxmlformats.org/officeDocument/2006/relationships" id="261" r:id="R49a0c4cba4854142"/>
    <p:sldId xmlns:r="http://schemas.openxmlformats.org/officeDocument/2006/relationships" id="262" r:id="R367d458db5b24cb8"/>
    <p:sldId xmlns:r="http://schemas.openxmlformats.org/officeDocument/2006/relationships" id="263" r:id="Rf81ceab8cd584630"/>
    <p:sldId xmlns:r="http://schemas.openxmlformats.org/officeDocument/2006/relationships" id="264" r:id="Rabf0b42074984d48"/>
    <p:sldId xmlns:r="http://schemas.openxmlformats.org/officeDocument/2006/relationships" id="265" r:id="R8794eda2033348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6fee54036a4199" /><Relationship Type="http://schemas.openxmlformats.org/officeDocument/2006/relationships/slideMaster" Target="/ppt/slideMasters/slideMaster1.xml" Id="R56a454766e5c4f07" /><Relationship Type="http://schemas.openxmlformats.org/officeDocument/2006/relationships/notesMaster" Target="/ppt/notesMasters/notesMaster1.xml" Id="R9e9ca0fc02bf4d06" /><Relationship Type="http://schemas.openxmlformats.org/officeDocument/2006/relationships/presProps" Target="/ppt/presProps.xml" Id="R3afb27cc296c4b77" /><Relationship Type="http://schemas.openxmlformats.org/officeDocument/2006/relationships/tableStyles" Target="/ppt/tableStyles.xml" Id="R564c6d4879eb4347" /><Relationship Type="http://schemas.openxmlformats.org/officeDocument/2006/relationships/slide" Target="/ppt/slides/slide1.xml" Id="Rcff20b8d62764582" /><Relationship Type="http://schemas.openxmlformats.org/officeDocument/2006/relationships/slide" Target="/ppt/slides/slide2.xml" Id="R256fa7f162ab4114" /><Relationship Type="http://schemas.openxmlformats.org/officeDocument/2006/relationships/slide" Target="/ppt/slides/slide3.xml" Id="Rec74e1746b334183" /><Relationship Type="http://schemas.openxmlformats.org/officeDocument/2006/relationships/slide" Target="/ppt/slides/slide4.xml" Id="R47c44ee6c3184e6b" /><Relationship Type="http://schemas.openxmlformats.org/officeDocument/2006/relationships/slide" Target="/ppt/slides/slide5.xml" Id="R26e1374d7f9943c3" /><Relationship Type="http://schemas.openxmlformats.org/officeDocument/2006/relationships/slide" Target="/ppt/slides/slide6.xml" Id="R49a0c4cba4854142" /><Relationship Type="http://schemas.openxmlformats.org/officeDocument/2006/relationships/slide" Target="/ppt/slides/slide7.xml" Id="R367d458db5b24cb8" /><Relationship Type="http://schemas.openxmlformats.org/officeDocument/2006/relationships/slide" Target="/ppt/slides/slide8.xml" Id="Rf81ceab8cd584630" /><Relationship Type="http://schemas.openxmlformats.org/officeDocument/2006/relationships/slide" Target="/ppt/slides/slide9.xml" Id="Rabf0b42074984d48" /><Relationship Type="http://schemas.openxmlformats.org/officeDocument/2006/relationships/slide" Target="/ppt/slides/slide10.xml" Id="R8794eda2033348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cde71bf378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9085f9efac4c54" /><Relationship Type="http://schemas.openxmlformats.org/officeDocument/2006/relationships/notesMaster" Target="/ppt/notesMasters/notesMaster1.xml" Id="R681b750bb9a348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ceca0576d14853" /><Relationship Type="http://schemas.openxmlformats.org/officeDocument/2006/relationships/notesMaster" Target="/ppt/notesMasters/notesMaster1.xml" Id="R3beafa93560745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c6f1cb9bea44a9" /><Relationship Type="http://schemas.openxmlformats.org/officeDocument/2006/relationships/notesMaster" Target="/ppt/notesMasters/notesMaster1.xml" Id="Re7d35510e97f46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10d679511a47d3" /><Relationship Type="http://schemas.openxmlformats.org/officeDocument/2006/relationships/notesMaster" Target="/ppt/notesMasters/notesMaster1.xml" Id="Rc1146ce6567244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ee5fe0744a41a1" /><Relationship Type="http://schemas.openxmlformats.org/officeDocument/2006/relationships/notesMaster" Target="/ppt/notesMasters/notesMaster1.xml" Id="Rea07df85070243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dc681a8b374810" /><Relationship Type="http://schemas.openxmlformats.org/officeDocument/2006/relationships/notesMaster" Target="/ppt/notesMasters/notesMaster1.xml" Id="Rb724b525bf0242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7e9f01389044a6" /><Relationship Type="http://schemas.openxmlformats.org/officeDocument/2006/relationships/notesMaster" Target="/ppt/notesMasters/notesMaster1.xml" Id="R20fd8f6eeb974b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3671478799486c" /><Relationship Type="http://schemas.openxmlformats.org/officeDocument/2006/relationships/notesMaster" Target="/ppt/notesMasters/notesMaster1.xml" Id="R7125ab97bc2042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b0d812b4f14e98" /><Relationship Type="http://schemas.openxmlformats.org/officeDocument/2006/relationships/notesMaster" Target="/ppt/notesMasters/notesMaster1.xml" Id="R2f5256dd16444d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b1652811504216" /><Relationship Type="http://schemas.openxmlformats.org/officeDocument/2006/relationships/notesMaster" Target="/ppt/notesMasters/notesMaster1.xml" Id="Rde6f23d6aa04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先用一句话定位项目：它不是让三个模型聊天，而是把可验证事实、硬约束和模型判断分开处理。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C:/Users/19158/Documents/Codex/2026-09-01/gemini-ui/outputs/project-report-v1.7.md</a:t>
            </a:r>
          </a:p>
          <a:p xmlns:a="http://schemas.openxmlformats.org/drawingml/2006/main">
            <a:r>
              <a:t>- C:/Users/19158/AppData/Local/Temp/codex-clipboard-1fef15c8-c9e1-4fbb-af30-c4bd1a01382a.png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说明三类错误来源，并引出系统的三个设计原则：事实可追溯、价格不混用、模型不能突破约束。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C:/Users/19158/Documents/Codex/2026-09-01/gemini-ui/outputs/project-report-v1.7.md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顺着箭头讲清楚一次请求的生命周期。重点强调模型不直接接触网页，也不直接决定是否超预算。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C:/Users/19158/Documents/Codex/2026-09-01/gemini-ui/outputs/project-report-v1.7.md</a:t>
            </a:r>
          </a:p>
          <a:p xmlns:a="http://schemas.openxmlformats.org/drawingml/2006/main">
            <a:r>
              <a:t>- C:/Users/19158/Documents/Codex/2026-09-01/gemini-ui/app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先讲规模，再主动指出价格覆盖仍只有 3 条。老师通常会更认可明确的局限与可执行补齐计划。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C:/Users/19158/Documents/Codex/2026-09-01/gemini-ui/data/reports/data-quality-latest.json</a:t>
            </a:r>
          </a:p>
          <a:p xmlns:a="http://schemas.openxmlformats.org/drawingml/2006/main">
            <a:r>
              <a:t>- C:/Users/19158/Documents/Codex/2026-09-01/gemini-ui/outputs/market-price-gap-queue-v1.7.csv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展示这是课程项目里最关键的数据可信策略。可以补充京东样例已保存截图和页面文本。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C:/Users/19158/Documents/Codex/2026-09-01/gemini-ui/docs/03-data-acquisition.md</a:t>
            </a:r>
          </a:p>
          <a:p xmlns:a="http://schemas.openxmlformats.org/drawingml/2006/main">
            <a:r>
              <a:t>- C:\Users\19158\Documents\Codex\2026-09-01\gemini-ui\data\raw\ecommerce\2026-09-03\jd_xiaomi17_12_256.png</a:t>
            </a:r>
          </a:p>
          <a:p xmlns:a="http://schemas.openxmlformats.org/drawingml/2006/main">
            <a:r>
              <a:t>- https://item.jd.com/100209621655.html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数据库关系能自然表示一个型号多个内存版本、一个版本多个平台商品、一个商品多个历史价格。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C:/Users/19158/Documents/Codex/2026-09-01/gemini-ui/app/models.py</a:t>
            </a:r>
          </a:p>
          <a:p xmlns:a="http://schemas.openxmlformats.org/drawingml/2006/main">
            <a:r>
              <a:t>- C:/Users/19158/Documents/Codex/2026-09-01/gemini-ui/docs/02-database.md</a:t>
            </a:r>
          </a:p>
          <a:p xmlns:a="http://schemas.openxmlformats.org/drawingml/2006/main">
            <a:r>
              <a:t>- C:/Users/19158/Documents/Codex/2026-09-01/gemini-ui/outputs/project-report-v1.7.md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解释为什么不是多数投票：模型分数先校验，再用标准差对分歧降权，最后与确定性的规则特征融合。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C:/Users/19158/Documents/Codex/2026-09-01/gemini-ui/app/services/recommender.py</a:t>
            </a:r>
          </a:p>
          <a:p xmlns:a="http://schemas.openxmlformats.org/drawingml/2006/main">
            <a:r>
              <a:t>- C:/Users/19158/Documents/Codex/2026-09-01/gemini-ui/docs/04-evaluation.md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现场演示建议先进入手机库按品牌筛选，再发起推荐，最后把鼠标移动到 Top2 验证动态展开。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C:/Users/19158/AppData/Local/Temp/codex-clipboard-29354478-27c1-46c7-8746-0a7f2e288853.png</a:t>
            </a:r>
          </a:p>
          <a:p xmlns:a="http://schemas.openxmlformats.org/drawingml/2006/main">
            <a:r>
              <a:t>- C:/Users/19158/Documents/Codex/2026-09-01/gemini-ui/app/templates</a:t>
            </a:r>
          </a:p>
          <a:p xmlns:a="http://schemas.openxmlformats.org/drawingml/2006/main">
            <a:r>
              <a:t>- C:/Users/19158/Documents/Codex/2026-09-01/gemini-ui/app/static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100% 是约束层的结果，不代表推荐主观质量已经 100%。Top1 一致率说明三模型融合会影响部分排序。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C:/Users/19158/Documents/Codex/2026-09-01/gemini-ui/outputs/benchmark/benchmark-results.json</a:t>
            </a:r>
          </a:p>
          <a:p xmlns:a="http://schemas.openxmlformats.org/drawingml/2006/main">
            <a:r>
              <a:t>- C:/Users/19158/Documents/Codex/2026-09-01/gemini-ui/config/evaluation_cases.json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结尾主动交代真实限制，并强调完成了从数据证据到推荐、解释、评估和后台维护的完整链路。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C:/Users/19158/Documents/Codex/2026-09-01/gemini-ui/outputs/project-report-v1.7.md</a:t>
            </a:r>
          </a:p>
          <a:p xmlns:a="http://schemas.openxmlformats.org/drawingml/2006/main">
            <a:r>
              <a:t>- C:/Users/19158/Documents/Codex/2026-09-01/gemini-ui/outputs/market-price-gap-queue-v1.7.csv</a:t>
            </a:r>
          </a:p>
          <a:p xmlns:a="http://schemas.openxmlformats.org/drawingml/2006/main">
            <a:r>
              <a:t>- C:/Users/19158/Documents/Codex/2026-09-01/gemini-ui/outputs/official-data-gap-queue-v1.7.csv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6ea97df5345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520bb97644a29" /><Relationship Type="http://schemas.openxmlformats.org/officeDocument/2006/relationships/slideLayout" Target="/ppt/slideLayouts/slideLayout1.xml" Id="R60150572c4694b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50572c4694b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af6e3130b4ae2" /><Relationship Type="http://schemas.openxmlformats.org/officeDocument/2006/relationships/image" Target="/ppt/media/image.png" Id="R745fdb12cb9b4b15" /><Relationship Type="http://schemas.openxmlformats.org/officeDocument/2006/relationships/notesSlide" Target="/ppt/notesSlides/notesSlide1.xml" Id="R46dcf2a837e9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6f7d3ee3a455d" /><Relationship Type="http://schemas.openxmlformats.org/officeDocument/2006/relationships/notesSlide" Target="/ppt/notesSlides/notesSlide2.xml" Id="R94327701742f44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c93fbb0514e03" /><Relationship Type="http://schemas.openxmlformats.org/officeDocument/2006/relationships/notesSlide" Target="/ppt/notesSlides/notesSlide3.xml" Id="R9c93a7c826254f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fe432ecaa42d1" /><Relationship Type="http://schemas.openxmlformats.org/officeDocument/2006/relationships/notesSlide" Target="/ppt/notesSlides/notesSlide4.xml" Id="R3d9eb2c5443348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4125eaa23413a" /><Relationship Type="http://schemas.openxmlformats.org/officeDocument/2006/relationships/notesSlide" Target="/ppt/notesSlides/notesSlide5.xml" Id="Ra67460744a58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fc75564bc46c2" /><Relationship Type="http://schemas.openxmlformats.org/officeDocument/2006/relationships/notesSlide" Target="/ppt/notesSlides/notesSlide6.xml" Id="Rbf9f9a30a98c4b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b053f5399401c" /><Relationship Type="http://schemas.openxmlformats.org/officeDocument/2006/relationships/notesSlide" Target="/ppt/notesSlides/notesSlide7.xml" Id="Rbf17791fb2b343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a40eb80d24c72" /><Relationship Type="http://schemas.openxmlformats.org/officeDocument/2006/relationships/image" Target="/ppt/media/image2.png" Id="R4e5d6bdebd654641" /><Relationship Type="http://schemas.openxmlformats.org/officeDocument/2006/relationships/notesSlide" Target="/ppt/notesSlides/notesSlide8.xml" Id="Rd740435c39b14f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ec88ef69148ff" /><Relationship Type="http://schemas.openxmlformats.org/officeDocument/2006/relationships/chart" Target="/ppt/slides/charts/chart1.xml" Id="Rd79d7ad2030b4a4d" /><Relationship Type="http://schemas.openxmlformats.org/officeDocument/2006/relationships/notesSlide" Target="/ppt/notesSlides/notesSlide9.xml" Id="Rd0130ff50c6145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ef3bb4c36431f" /><Relationship Type="http://schemas.openxmlformats.org/officeDocument/2006/relationships/notesSlide" Target="/ppt/notesSlides/notesSlide10.xml" Id="R6756d26654fb4be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Top1 与融合一致率</c:v>
          </c:tx>
          <c:spPr>
            <a:solidFill xmlns:a="http://schemas.openxmlformats.org/drawingml/2006/main">
              <a:srgbClr val="176047"/>
            </a:solidFill>
          </c:spPr>
          <c:cat>
            <c:strLit>
              <c:ptCount val="4"/>
              <c:pt idx="0">
                <c:v>仅规则</c:v>
              </c:pt>
              <c:pt idx="1">
                <c:v>单 Qwen</c:v>
              </c:pt>
              <c:pt idx="2">
                <c:v>三模型融合</c:v>
              </c:pt>
              <c:pt idx="3">
                <c:v>去共识</c:v>
              </c:pt>
            </c:strLit>
          </c:cat>
          <c:val>
            <c:numLit>
              <c:formatCode>General</c:formatCode>
              <c:ptCount val="4"/>
              <c:pt idx="0">
                <c:v>95.7</c:v>
              </c:pt>
              <c:pt idx="1">
                <c:v>82.6</c:v>
              </c:pt>
              <c:pt idx="2">
                <c:v>100</c:v>
              </c:pt>
              <c:pt idx="3">
                <c:v>95.7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D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26631-6BA3-4B41-AA6A-EF2EAFEF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3473D-BBA6-400C-AAC7-19E6C19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1163300" cy="59436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5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218B2-AF9E-40A8-80C0-8E986AE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F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5A2EF-6C38-408B-8F3E-378FE48A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专业技能实训 · 可运行原型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70D69-7642-4976-97E5-8582B990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择机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92CC2-47AF-4480-A787-84893915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让手机推荐</a:t>
            </a:r>
          </a:p>
          <a:p xmlns:a="http://schemas.openxmlformats.org/drawingml/2006/main">
            <a:pPr algn="l">
              <a:def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可验证、可解释、可度量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D040B-D052-4B6C-A582-7A41F63C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本地三模型融合 × SQLite × 官网与电商证据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D111F-27E8-40DF-8758-0549972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76300"/>
            <a:ext cx="4953000" cy="4705350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071B1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fdb12cb9b4b15"/>
          <a:stretch xmlns:a="http://schemas.openxmlformats.org/drawingml/2006/main"/>
        </p:blipFill>
        <p:spPr>
          <a:xfrm xmlns:a="http://schemas.openxmlformats.org/drawingml/2006/main">
            <a:off x="6381750" y="1362075"/>
            <a:ext cx="4572000" cy="373380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3F0CE-0CAB-4872-A2FD-725226A8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课程项目答辩 · 2026.09</a:t>
            </a:r>
          </a:p>
        </p:txBody>
      </p:sp>
    </p:spTree>
    <p:extLst>
      <p:ext uri="{BB962C8B-B14F-4D97-AF65-F5344CB8AC3E}">
        <p14:creationId xmlns:p14="http://schemas.microsoft.com/office/powerpoint/2010/main" val="624913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829F9-C81A-4013-A6DE-E22294D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7B8B3-20D7-4803-A0A9-97BF4431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为什么手机推荐容易“看起来对、实际错”？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B069B-EFD4-4344-AAF0-B4B3C559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用户需要的不只是型号，而是具体版本、真实可买价格和可解释理由。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444B3-30F2-4C43-8846-FB912D1C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06AF7-342E-4A21-BAFE-094604F4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择机 · 基于多本地大模型融合的手机推荐系统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2EE68-D93F-46CF-BC15-977E5ECE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29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9F190-6F2E-47EB-A4F9-3E377003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33528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80B22-4F74-4C77-B656-71429E07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4B15D-6334-4C25-8B0E-BA510AF3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参数分散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F18A0-AF5E-43EA-B702-7CA8F642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官网规格、版本组合、发布日期分布在不同页面。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502BE-D9C0-41F3-A28C-C18127D8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289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0814F-D848-4A92-B0B3-CA88AE1D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证据留存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19FE9-C237-4276-8E51-2ED97E34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47875"/>
            <a:ext cx="33528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9525">
            <a:solidFill>
              <a:srgbClr val="1760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BA799-0830-436E-957B-7E36762E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DE0D9-B527-4558-8D64-54AA1D3D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908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价格有条件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6871F-F7EA-4534-A2F6-088BFB08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公开价、国补价、平台补贴价不能混为一谈。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4E9E0-19CA-440B-A045-ED274557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24400"/>
            <a:ext cx="289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E8D72-31CC-4C53-A864-762786F4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价格类型分离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A7D35-900C-4598-8D57-8E87FA7E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47875"/>
            <a:ext cx="33528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2E222-60BC-4002-B1FE-42FD7F97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3BDEC5-1AA5-4D71-8B9E-A7BAE72B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908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模型会幻觉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A5C6D-07E2-4CC0-BB88-BA48607D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语言模型可能推荐不存在、超预算或已停售的版本。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5CF04-C884-451B-8F91-061A4CD0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289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ACE51-A306-4C51-B50C-5638ED7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硬约束兜底</a:t>
            </a:r>
          </a:p>
        </p:txBody>
      </p:sp>
    </p:spTree>
    <p:extLst>
      <p:ext uri="{BB962C8B-B14F-4D97-AF65-F5344CB8AC3E}">
        <p14:creationId xmlns:p14="http://schemas.microsoft.com/office/powerpoint/2010/main" val="47570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8CBC37-A66B-4925-98ED-D0836BF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F955B-69F7-4ED2-9996-32A3095F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系统架构：事实、推理与展示解耦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7DF6A-4859-4BDE-9E70-22C9D7F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采集层负责证据，数据库负责事实，模型负责视角，融合算法负责决策。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685C4-A1F3-480E-9770-334AC773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AF516-7460-457B-99CD-246976D1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择机 · 基于多本地大模型融合的手机推荐系统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9C22A-EE8B-451F-BDB5-F3C0E652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29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4CCE1-5B20-46E3-979F-2EAB039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CC01F-8424-43D9-B54D-D141A88F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75DB5-F9BE-477A-A418-32268B3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33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0A139-484C-4186-A27E-D3D442AF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051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2F865-4483-4696-A039-5683A333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2E4AD-D8F6-42F0-BB75-233C2725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0B521-DEAB-4D50-A714-C08BBB20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190750" cy="28956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E9324-0253-44AE-B18F-AA674641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9BAF3-2990-40E3-9818-8BAD2307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67390-EF84-414C-92E4-F2A278D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数据采集层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DCF53-5035-4530-86E7-B528B2CC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品牌官网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电商人工核验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原始证据归档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4F82C-4618-44D9-9128-4C001EE8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2190750" cy="28956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A977E-D633-4A49-A466-8EB4C05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193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60FA3-4B42-4FAD-B33D-A5820F04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0CE77-CFC6-49DF-85D5-4B18949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71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SQLite 数据层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56FDD-DF97-469B-82EF-C41C8E8A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766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型号 / 版本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平台商品 / 快照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用户 / 审计日志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93607-AAFD-4E82-BBC3-09503F42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800"/>
            <a:ext cx="2190750" cy="28956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9525">
            <a:solidFill>
              <a:srgbClr val="1760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50EE1-012C-4555-AAAE-4D7BCEBB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F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D6A92-9AFA-48D7-BB2A-D6B08BE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57A96-265E-46F9-9295-9B43EDF0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71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智能服务层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072E5-3998-452E-8D8D-DE8A0861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硬约束筛选</a:t>
            </a:r>
          </a:p>
          <a:p xmlns:a="http://schemas.openxmlformats.org/drawingml/2006/main">
            <a:pPr algn="l">
              <a:def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3 个 Ollama 模型</a:t>
            </a:r>
          </a:p>
          <a:p xmlns:a="http://schemas.openxmlformats.org/drawingml/2006/main">
            <a:pPr algn="l">
              <a:def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加权融合与降级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E0878-E906-444D-9C1B-55C8D2BD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9800"/>
            <a:ext cx="2190750" cy="28956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90769E-C60E-40A4-98EA-0DA0FB66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1935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64B5C-9562-481B-9E8E-C9383FED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10EB3A-32F9-4B56-AE1C-490DAD97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Web 展示层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5BEC8E-358C-4717-A751-63116E98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智能推荐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手机库 / 详情</a:t>
            </a:r>
          </a:p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评估 / 管理 CRUD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70002-26D7-4DC9-8031-2B6D685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1062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数据变化可重解析 · 模型失败可降级 · 页面结果可回溯</a:t>
            </a:r>
          </a:p>
        </p:txBody>
      </p:sp>
    </p:spTree>
    <p:extLst>
      <p:ext uri="{BB962C8B-B14F-4D97-AF65-F5344CB8AC3E}">
        <p14:creationId xmlns:p14="http://schemas.microsoft.com/office/powerpoint/2010/main" val="1326935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77EBB9-488B-485F-87B2-9E7E22E5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61F77-83C3-46A0-8E5E-1262FCDD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真实数据底座：规模与质量同时展示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FA223-945C-4DFD-A3E7-350439A2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截至 2026-09-03；空值保留为空，不用猜测补齐。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8D4F8-A2CF-45F4-BA8D-FDD22A9B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87EF2-8E52-4FDB-BB8E-AE13B72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择机 · 基于多本地大模型融合的手机推荐系统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B814B-BF3F-473D-9683-7A707467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29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1787B-5EE5-4102-BD75-4F6C9187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39C3A-E8D4-4283-81FF-E3E4700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44FE7-C4D4-4A57-A5D2-AA77D687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手机品牌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3ACB9-A06B-496D-A493-F078BDD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AF7A4-8FA7-44BA-A4F2-B0711C61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288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59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E304F-46B4-4CC9-9429-18EE520F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在售机型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9D64F-37FA-49BC-802A-680B9D70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080AF-F695-477C-BE25-1DDD3FB2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167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EA9C-A0A4-45BF-BD5B-B7B7957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内存版本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5099C-3AEC-431F-9475-B1964A2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971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06FBC-69CE-4A8D-A3D4-5415C3F7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84C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EF64B-40DF-4E7E-8BDA-9BC79C93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已核验电商商品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5F1B3-3CFF-4276-9E34-C94BFEC8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关键字段覆盖率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B3DD9-84EA-4FC9-ADFA-128ADF44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电池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1B2A4-7E44-4C47-99A7-CD9A86CC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91025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75CEE-E21C-4140-B4A9-2C997F60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91025"/>
            <a:ext cx="1133284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B177B-5724-47D2-B84B-31E2F2B5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66.1%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435B8-7B73-419A-954E-020E4C2A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62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官网图片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F7AD8-BB21-4B03-84D5-639E7D8B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91025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41010-17E7-449D-AA50-45BD0041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91025"/>
            <a:ext cx="1104138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9A9E6-E72D-4BEC-AF43-CFFDA516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62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64.4%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07B54-3286-4BF7-8788-689F29A7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62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主摄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DB584-599C-4503-B962-84A8F608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91025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9FD570-7005-427C-A58A-1DA3853D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91025"/>
            <a:ext cx="1016699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0DF042-55C2-4A1A-82B4-30522825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62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59.3%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E69851-EBA4-42FB-9DE2-64493942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屏幕尺寸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06581B-DEB6-4CBA-9F07-1D3F2D0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72075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87D6DB-DA2E-42CA-B017-0A2618D7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72075"/>
            <a:ext cx="95840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331261-3498-4129-B1C9-4411F6AA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55.9%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F7F5FE-049E-4842-9E9A-9278E49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B02958-E8A5-42A6-A8AE-B7542859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72075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1C0C1F-132C-424C-A1B4-9FEC1471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72075"/>
            <a:ext cx="843534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EBEAED-A5E1-4977-AC18-E0537618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49.2%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7C68E3-9742-4BCC-932B-79B8EAE1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刷新率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D65E19-8517-401B-A7FF-7FBBE141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72075"/>
            <a:ext cx="1714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4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4FDC52-C9C9-4DAA-856B-71C608D9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72075"/>
            <a:ext cx="75609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E9D9D2-E5FA-4E00-A4F4-31CFA8AF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43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44.1%</a:t>
            </a:r>
          </a:p>
        </p:txBody>
      </p:sp>
    </p:spTree>
    <p:extLst>
      <p:ext uri="{BB962C8B-B14F-4D97-AF65-F5344CB8AC3E}">
        <p14:creationId xmlns:p14="http://schemas.microsoft.com/office/powerpoint/2010/main" val="1440117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6B6EF7-AB04-4CF2-A5B5-9CFC897F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5778D-F6E0-4802-8E07-62BAEA55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采集流程：每条数据都能回到证据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C0266-A1B0-48FF-BA63-65AD17DB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自动抓官网、人工核电商；验证码与资格判断不绕过。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0BB38-BAE2-4F93-A660-8561E3EA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06751-B560-4FE3-B2DC-B9F165C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择机 · 基于多本地大模型融合的手机推荐系统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77975-5C83-40DB-8533-99F13233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29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68CF3-285C-489F-966B-DF4A252F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43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1A659-9E03-49DC-9057-DAC0CF47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828800" cy="223837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F1DD8-621A-4F21-AC41-8883D0C0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EA8FE-03C8-450C-B4FE-51433BB7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02180-B152-40F8-92FC-8C42C4CA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定位来源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7B4A4-E15A-413A-9A81-30D5ABA9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官网规格页 / 官方旗舰店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6C2A3-386F-4E52-B06C-0C3F4CBE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80A52-B5E5-47DF-95E2-35C716AF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1828800" cy="223837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19DEC-FD1B-4ED1-86DE-43F38420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958A2-A8E6-4925-9B22-47938F8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38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E9735-22A7-4A53-8C65-2F7A280C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051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保存证据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9FDD5-EABC-4326-B5B3-831C9036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813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URL、时间、HTML/文本、截图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30E6B-4564-435A-9699-99D8E05A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A8D29-F625-43B4-A965-858D850E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1828800" cy="223837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FAEBE-7CEC-4F2D-9D9B-C8331A7A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4735A-73EB-4E74-BB36-45211F67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4C37A-690D-489B-AF96-B35901BF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051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结构化解析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197D0-3D1B-495C-A534-4022E536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13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字段校验；不做内存笛卡尔积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674E1-8B12-4F39-B700-912A8551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857AB-0E16-4439-A2B7-E83D246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828800" cy="223837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9525">
            <a:solidFill>
              <a:srgbClr val="1760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01189-ACD3-4691-9215-659BFEF3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F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79B4A4-7180-4FF3-8B6D-E6ADE627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38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13EA7-1DB4-4199-8D1E-B99254B9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审核入库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2C0DCF-5F11-47A1-9005-FAE8A4CA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813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SKU、店铺、域名、价格范围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D4F3E7-180D-46CA-8D2B-715BBB03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9800"/>
            <a:ext cx="1828800" cy="223837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EE9DB5-81AC-4F35-8107-BCEAEA67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400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A7E292-BF08-45D0-BAC4-352F06D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38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42F3E7-D40B-47DF-90A4-118B38BD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051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质量报告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67E128-87DD-4E62-A611-4131C872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81375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覆盖率、缺口队列、更新时间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DBEC9-5D33-43EE-83B9-CAE0D2FC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6299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3E7"/>
          </a:solidFill>
          <a:ln xmlns:a="http://schemas.openxmlformats.org/drawingml/2006/main" w="9525">
            <a:solidFill>
              <a:srgbClr val="F0C69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C7858-4CCB-4C40-801D-AC30ACF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9A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9A31"/>
                </a:solidFill>
                <a:latin typeface="Microsoft YaHei"/>
                <a:ea typeface="Microsoft YaHei"/>
                <a:cs typeface="Microsoft YaHei"/>
              </a:rPr>
              <a:t>可信边界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C4C0A3-8817-4397-9114-9AA0A049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38725"/>
            <a:ext cx="887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国补/百亿补贴只记录页面实显值；资格与结算价由用户自行确认。未核验价格不进入最低价。</a:t>
            </a:r>
          </a:p>
        </p:txBody>
      </p:sp>
    </p:spTree>
    <p:extLst>
      <p:ext uri="{BB962C8B-B14F-4D97-AF65-F5344CB8AC3E}">
        <p14:creationId xmlns:p14="http://schemas.microsoft.com/office/powerpoint/2010/main" val="996341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CAEFEC-A690-4641-B7A9-0886C5F2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4F233-A338-49FE-A1DB-F8BBCF1E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数据库与权限：支持增删改查，也保留责任链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E67B0-84BA-421E-A93F-335890C9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管理员可维护数据；普通用户只读。密码哈希、CSRF、限流与审计共同保护后台。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2C246-C1FF-41C0-9EF2-8B742B62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C4E08-E9AD-4BD4-A74E-D6F96E45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择机 · 基于多本地大模型融合的手机推荐系统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A0D61-E141-47B7-9874-FC8E67C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29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1F4F5-7077-4414-90D8-B1F6CF5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BA5A0-F855-4835-8583-9E629D8A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DD8B4-9EAF-40EA-B141-1FD22542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766C1-D4F6-47E1-ABF7-95525AB8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9B3B0-A091-4352-8C5D-052DE3D3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9560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41924-47EB-4981-849C-51570D56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95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8056B-45A0-4264-9B39-2CBC0EE3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5FA71-78FA-4978-AC63-48E2377A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CA992-2B83-4ECA-A3FE-2E48C32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brands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44EE8-310F-4843-8D8B-A7FA54E8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品牌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6D915-3779-43A9-BD14-E0660DA0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7A356-230C-4FC7-A2D0-8393A07A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050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phone_models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CD84D-D6D2-459C-BCB8-2C475D22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241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手机型号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1ADE9-8B32-43D9-BE4E-6476A4B7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9525">
            <a:solidFill>
              <a:srgbClr val="1760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90857-886D-4827-9B3E-70682FB7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050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phone_variants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79B2F-6F0B-4D4B-A585-ED8E8979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241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内存版本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BB713-EAE3-46B9-A7AB-41981643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43F5E-CF3A-49F5-8213-543597E1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050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platform_listings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038F8-E418-46C6-8442-94FC7082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241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平台商品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27512-CA0C-4BB6-B240-B3EBFDEC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3FEBE-3826-48C6-815F-ABE1998A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050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price_snapshots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808D8-5845-4371-B74C-C9D12AE3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241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价格快照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DB0203-295C-4806-80D7-584E615E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A470C-77DD-4845-8EB8-C15A8699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27667-402F-4803-80DB-8A607C40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149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A4D82F-DB29-47B9-A466-D39EF71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A61D35-2D07-40FF-BDB3-E0E5DF9D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audit_logs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E038F7-9DCF-400E-A390-614B70F0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149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0DA1A-92BD-41C2-BF4A-55D48D0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346825-D396-415C-AF80-6240B494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3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recommendation_runs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2DD00E-C622-440A-B938-BD1F7EB6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推荐运行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15E666-C400-4FD9-A13A-3180280D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DC3596-1B8E-4C5C-A350-AA6CE933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95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model_runs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F6F1E1-1611-45D2-AFAD-F01A00E8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149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模型运行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892B31-0B00-4F76-96CF-8A2695D7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D6069A-E021-469E-9502-801D95F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1 : 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E5C1D3-EAC8-4C17-8FF3-A7799F6A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8130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739A26-94AF-43AF-9E3F-E1A4A182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384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1 : 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44127C-5997-4A87-B704-4723EFED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8130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FDEAF9-A940-4768-A10C-D327D6DC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384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1 : 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C2D284-6AE4-4C4A-A531-45EFF891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81300"/>
            <a:ext cx="49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640421-392E-49F8-815F-930CAB90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384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1 : 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0D0B60-8CBD-4B94-B09F-C8654CFD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管理员操作 → 审计日志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763EE8-DE00-49F2-900D-C02C34E3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每次推荐 → 模型运行明细</a:t>
            </a:r>
          </a:p>
        </p:txBody>
      </p:sp>
    </p:spTree>
    <p:extLst>
      <p:ext uri="{BB962C8B-B14F-4D97-AF65-F5344CB8AC3E}">
        <p14:creationId xmlns:p14="http://schemas.microsoft.com/office/powerpoint/2010/main" val="516072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3A8A9B-AD4C-4C30-8943-032B0FEE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C48F6-72AA-4D03-B10E-B8133F3D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融合算法：模型提供判断，规则守住边界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8CC83-E169-4B0B-8D69-78C59B9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最终分 = 需求匹配 35% + 模型共识 25% + 数据可信 20% + 性价比 15% + 时效性 5%。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E4360-0677-4427-A989-AE4AA9C1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24272-63DB-456F-A832-5F60AF20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择机 · 基于多本地大模型融合的手机推荐系统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59990-1268-4FB1-B5DD-A65357D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29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CA876-C26E-4D78-9F1F-CA3635AA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372046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B2A65-7CF4-4572-A963-5A412D16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5680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F14C8-EA24-4E51-A694-1492F924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362521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需求匹配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D03CE-706F-47BF-9A3B-D4CB6CD5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015" y="2171700"/>
            <a:ext cx="26574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1C006-443F-4822-8491-5154B523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215" y="2343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B4F06-9CB3-4155-81D2-9A65A42D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2705100"/>
            <a:ext cx="2562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模型共识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BC8AB-25E2-4C18-BF59-EC41E1FB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2171700"/>
            <a:ext cx="212598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0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29A63-4AF8-4381-BFD8-A6C7DCF3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690" y="2343150"/>
            <a:ext cx="19735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A1586-BB30-401F-8B0D-D7BDB92E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115" y="2705100"/>
            <a:ext cx="203073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A1F35-4615-4F59-A07A-7511AB48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470" y="2171700"/>
            <a:ext cx="159448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D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C6EE9-5244-4D54-9E63-F6AA28E9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670" y="2343150"/>
            <a:ext cx="14420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A0A98-6590-468A-BB35-C92FC951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095" y="2705100"/>
            <a:ext cx="14992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性价比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0B8FE-E9F4-4B75-8634-193D96C3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955" y="2171700"/>
            <a:ext cx="53149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8E01C-66DF-4008-BA86-172647AA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5155" y="2343150"/>
            <a:ext cx="3790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CE9C9-8D58-451A-A291-EA548DB9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6580" y="2705100"/>
            <a:ext cx="43624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时效性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3C793-4806-4B64-83ED-AE48B0E7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242887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0B871-7A43-4B08-AAB2-76F437BF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① 硬约束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1BD53-6318-401B-A665-297CB3BE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085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在售 / 品牌 / 存储 / 预算</a:t>
            </a:r>
          </a:p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不满足就直接排除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98B9E-44E0-4B08-97A0-0D4B6F4F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38550"/>
            <a:ext cx="242887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77903-6D17-4341-A1E3-FF676C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5762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② 三模型评分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74AE6-C401-469D-BACD-21500255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00550"/>
            <a:ext cx="2085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Qwen3 8B · DeepSeek-R1 7B</a:t>
            </a:r>
          </a:p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Gemma3 4B；只看候选事实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E991AB-9454-4394-935F-067AA7F9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42887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61BB8-A5C8-47D2-A699-DCD6335B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③ 分歧惩罚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A373C8-2C5E-44E7-8B37-CA2046C5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085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评分标准差越大，一致性越低</a:t>
            </a:r>
          </a:p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最低系数 0.7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38E31-A35B-4A8C-B808-0E1D4CF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38550"/>
            <a:ext cx="242887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C78EE6-126A-4DEB-A274-67A79DD8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57625"/>
            <a:ext cx="2085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④ 失败降级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DDC10C-5C23-47C3-BAD6-C734D4FE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00550"/>
            <a:ext cx="2085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模型异常时回退规则分</a:t>
            </a:r>
          </a:p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系统仍能给出合法结果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44B090-EBE0-496E-B187-B5852A50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页面公开每个分项、权重、贡献分、模型数量与分歧标准差</a:t>
            </a:r>
          </a:p>
        </p:txBody>
      </p:sp>
    </p:spTree>
    <p:extLst>
      <p:ext uri="{BB962C8B-B14F-4D97-AF65-F5344CB8AC3E}">
        <p14:creationId xmlns:p14="http://schemas.microsoft.com/office/powerpoint/2010/main" val="1321777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2CAFB-F023-4506-9AA5-C55C4C06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70370-AD2F-473B-8CF9-7117B5F7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交互设计：从推荐结果直接追溯到参数与购买入口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D3588-AE8A-42DC-9A70-9F3664AE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Top1 默认展开；悬停或键盘聚焦其他卡片时动态展开，兼顾比较效率与无障碍。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EFBA5-DAAA-45C2-AD0E-D8E3840C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2645D-D1DD-4080-9F59-1FCD59B5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择机 · 基于多本地大模型融合的手机推荐系统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C0DDA-0FD5-4529-8851-BA517FB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29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d6bdebd654641"/>
          <a:srcRect xmlns:a="http://schemas.openxmlformats.org/drawingml/2006/main" l="2183" t="0" r="2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952625"/>
            <a:ext cx="66675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98182-90D0-407D-B413-7AA5D2C1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3648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B6718-EEE0-4692-975E-6ADF710C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19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按品牌浏览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3F147-337E-4682-A0B3-5FDDA7AE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90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统计、搜索、排序和详情页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7A224-B797-487D-BE00-1E142B4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48025"/>
            <a:ext cx="3648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9525">
            <a:solidFill>
              <a:srgbClr val="1760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B67AE-4107-4A87-A166-B0B724DC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194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参数可展开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A9DD1-7109-415F-A120-D1476806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90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CPU、屏幕、像素、电池、版本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D1696-6035-49EC-8AF8-1469BD62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48175"/>
            <a:ext cx="3648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BE75F-33A2-41C8-BCAB-788CD6DC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196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价格可点击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C716A-E8C9-4B26-8281-10B39979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91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核验商品直达；缺失时标注未核验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E8E88-FE52-4DEF-B9E8-EF1FD46B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81675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BD92B-78CE-41DF-8065-5F20C374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838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真实图片来自官网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0F4D1-BB0A-4D6D-A1A5-23F4A1E4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81675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EB69A-1664-4239-9BA3-EF6E01C6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38825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价格状态清晰标注</a:t>
            </a:r>
          </a:p>
        </p:txBody>
      </p:sp>
    </p:spTree>
    <p:extLst>
      <p:ext uri="{BB962C8B-B14F-4D97-AF65-F5344CB8AC3E}">
        <p14:creationId xmlns:p14="http://schemas.microsoft.com/office/powerpoint/2010/main" val="1836385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7B2A2-67CE-4936-9D75-AA9F4377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37A5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499CA-0C33-4FCB-BB71-FF00D2D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30 条固定查询：约束正确率 100%，融合确实改变排序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D0FDD-116E-408B-B5E4-9A91EFF3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23 条有候选、7 条预期无结果；四种方法使用完全相同的查询与候选集。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E873D-B4F0-4083-8B9C-CF62D90A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22709-9855-4ACF-AFBB-A64A49F4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择机 · 基于多本地大模型融合的手机推荐系统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C4996-D537-419C-AC73-A733C6FA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294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EF213-72F8-4DBB-B177-2172077F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4389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76300" y="2286000"/>
          <a:ext xmlns:a="http://schemas.openxmlformats.org/drawingml/2006/main" cx="5905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9d7ad2030b4a4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B86DA-618F-4447-BAFB-55CBDCB9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886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FB8F2-AD38-4F2D-A76A-0384B581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46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604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C4DEC-02C0-4907-9183-7E1EF8FC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289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36E"/>
                </a:solidFill>
                <a:latin typeface="Microsoft YaHei"/>
                <a:ea typeface="Microsoft YaHei"/>
                <a:cs typeface="Microsoft YaHei"/>
              </a:rPr>
              <a:t>四种方法硬约束正确率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62BD1-B1A8-459E-B2C6-037FDE3A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90925"/>
            <a:ext cx="38862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6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AF81F-1394-4631-AD3A-213F65D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模型运行观测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05492-9EE9-4172-BBEE-F5F79F1D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338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Qwen  P50 28.10s · JSON 100%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DeepSeek  P50 20.91s · JSON 100%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Gemma  P50 12.77s · JSON 91.3%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E8F5C-EAE0-44C2-9E3F-8C6118A3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14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D8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6D8D1"/>
                </a:solidFill>
                <a:latin typeface="Microsoft YaHei"/>
                <a:ea typeface="Microsoft YaHei"/>
                <a:cs typeface="Microsoft YaHei"/>
              </a:rPr>
              <a:t>保留 1 次 2689.68s 离群值</a:t>
            </a:r>
          </a:p>
        </p:txBody>
      </p:sp>
    </p:spTree>
    <p:extLst>
      <p:ext uri="{BB962C8B-B14F-4D97-AF65-F5344CB8AC3E}">
        <p14:creationId xmlns:p14="http://schemas.microsoft.com/office/powerpoint/2010/main" val="1360845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6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51781-87E0-40A2-B5A6-06A6AEB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F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10593-6EB9-4AC1-A866-0DD5A08E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23"/>
                </a:solidFill>
                <a:latin typeface="Microsoft YaHei"/>
                <a:ea typeface="Microsoft YaHei"/>
                <a:cs typeface="Microsoft YaHei"/>
              </a:rPr>
              <a:t>结论与边界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2AC6B-0A62-4E45-9270-29165C41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项目已形成一个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可运行、可解释、可复现的闭环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0D8A5-274F-482C-A33A-AAE91585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9FE2F-9EB3-47CC-AFF4-1848EDBD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14219-821D-4FF0-9B99-1B60AE6F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05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FastAPI Web + SQLite CRUD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175F2-7ABC-4899-B292-F51FB626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0965D-1F46-4457-99F8-32A524F2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51F95-2630-46FA-843E-E989F63B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五维贡献 + 模型投票 + 证据链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93823-F8A7-4601-9950-86D317E8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1247F-C6D7-4A11-BD2C-4D0DBAC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可度量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8A9D9-10E9-48EB-A949-445F2020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1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30 查询基准 + 延迟 / JSON / 成功率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46A2A-3E90-4A36-A061-469DFDB4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4076700" cy="49720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0E4938"/>
          </a:solidFill>
          <a:ln xmlns:a="http://schemas.openxmlformats.org/drawingml/2006/main" w="9525">
            <a:solidFill>
              <a:srgbClr val="3C7B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7A7E8-DAB4-493B-A194-B1359B55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763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仍需继续做的真实工作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9E62C-D540-41E0-9CF3-EA22DCDB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498 条平台价格缺口队列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款动态官网版本待补齐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主观推荐质量需要人工盲评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D3D9F-5583-4506-98F8-F4FB7C53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A2003-6F51-408D-9575-76340339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FF66"/>
                </a:solidFill>
                <a:latin typeface="Microsoft YaHei"/>
                <a:ea typeface="Microsoft YaHei"/>
                <a:cs typeface="Microsoft YaHei"/>
              </a:rPr>
              <a:t>原则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2265F-F7B9-438B-913D-BDAD215E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不绕验证码</a:t>
            </a:r>
          </a:p>
          <a:p xmlns:a="http://schemas.openxmlformats.org/drawingml/2006/main">
            <a:pPr algn="l">
              <a:defRPr sz="1350" b="1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不伪造价格</a:t>
            </a:r>
          </a:p>
          <a:p xmlns:a="http://schemas.openxmlformats.org/drawingml/2006/main">
            <a:pPr algn="l">
              <a:defRPr sz="1350" b="1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CE7"/>
                </a:solidFill>
                <a:latin typeface="Microsoft YaHei"/>
                <a:ea typeface="Microsoft YaHei"/>
                <a:cs typeface="Microsoft YaHei"/>
              </a:rPr>
              <a:t>不把补贴资格当作人人可得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5F8DC-A84C-41E6-AF4E-D91A22C6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 · 欢迎提问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AE559-FB17-42E9-8DE4-4CB03D5D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D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D5CA"/>
                </a:solidFill>
                <a:latin typeface="Microsoft YaHei"/>
                <a:ea typeface="Microsoft YaHei"/>
                <a:cs typeface="Microsoft YaHei"/>
              </a:rPr>
              <a:t>择机 · 专业技能实训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F5A0E-CE5D-4FBF-866D-C5EFE53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8D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D5C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0205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2026-09-03T10:43:06.9920000Z</dcterms:created>
  <dcterms:modified xsi:type="dcterms:W3CDTF">2026-09-03T10:43:06.9920000Z</dcterms:modified>
</coreProperties>
</file>